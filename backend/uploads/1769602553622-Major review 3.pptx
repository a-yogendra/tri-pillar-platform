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0" r:id="rId9"/>
    <p:sldId id="272" r:id="rId10"/>
    <p:sldId id="271" r:id="rId11"/>
    <p:sldId id="273" r:id="rId12"/>
    <p:sldId id="266" r:id="rId13"/>
    <p:sldId id="268" r:id="rId14"/>
    <p:sldId id="267" r:id="rId15"/>
    <p:sldId id="269" r:id="rId16"/>
  </p:sldIdLst>
  <p:sldSz cx="12192000" cy="6858000"/>
  <p:notesSz cx="6954838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9CB9B3E-7458-40BE-A535-80D44974BE2E}">
  <a:tblStyle styleId="{C9CB9B3E-7458-40BE-A535-80D44974BE2E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40175" y="0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375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B854CA3-493D-8339-EE67-679B02DE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>
            <a:extLst>
              <a:ext uri="{FF2B5EF4-FFF2-40B4-BE49-F238E27FC236}">
                <a16:creationId xmlns:a16="http://schemas.microsoft.com/office/drawing/2014/main" id="{805F53B3-664F-6F5E-2430-E604EE53D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>
            <a:extLst>
              <a:ext uri="{FF2B5EF4-FFF2-40B4-BE49-F238E27FC236}">
                <a16:creationId xmlns:a16="http://schemas.microsoft.com/office/drawing/2014/main" id="{0D3388C8-A95D-4919-D2B4-9ECAC4A24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5731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DB3DC675-6557-E3B3-A064-45E3A163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>
            <a:extLst>
              <a:ext uri="{FF2B5EF4-FFF2-40B4-BE49-F238E27FC236}">
                <a16:creationId xmlns:a16="http://schemas.microsoft.com/office/drawing/2014/main" id="{EF0FA99A-DF3E-E4A1-6D9A-4D475CF36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>
            <a:extLst>
              <a:ext uri="{FF2B5EF4-FFF2-40B4-BE49-F238E27FC236}">
                <a16:creationId xmlns:a16="http://schemas.microsoft.com/office/drawing/2014/main" id="{C6EFA040-C9B3-2750-A257-CD9A3EF5C6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9745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0FBAC57E-4ADA-36FE-7AF9-0F06BDDC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>
            <a:extLst>
              <a:ext uri="{FF2B5EF4-FFF2-40B4-BE49-F238E27FC236}">
                <a16:creationId xmlns:a16="http://schemas.microsoft.com/office/drawing/2014/main" id="{89439C1C-5F20-0000-4CF8-8A4D16791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>
            <a:extLst>
              <a:ext uri="{FF2B5EF4-FFF2-40B4-BE49-F238E27FC236}">
                <a16:creationId xmlns:a16="http://schemas.microsoft.com/office/drawing/2014/main" id="{7D031C8A-67AC-6D27-B88F-6D229F0E3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3515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5EA13051-959C-5DA6-6A5B-5F7D7A1F0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>
            <a:extLst>
              <a:ext uri="{FF2B5EF4-FFF2-40B4-BE49-F238E27FC236}">
                <a16:creationId xmlns:a16="http://schemas.microsoft.com/office/drawing/2014/main" id="{8139649C-DDBC-D561-6BD6-63BDFCF37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>
            <a:extLst>
              <a:ext uri="{FF2B5EF4-FFF2-40B4-BE49-F238E27FC236}">
                <a16:creationId xmlns:a16="http://schemas.microsoft.com/office/drawing/2014/main" id="{1D439C34-82A3-0C8B-CEDA-2D67C2CB05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475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05450" y="20638"/>
            <a:ext cx="1181100" cy="110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9375" y="5467350"/>
            <a:ext cx="2260600" cy="79851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524000" y="1960563"/>
            <a:ext cx="914400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3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7240588" y="6302375"/>
            <a:ext cx="4489450" cy="0"/>
            <a:chOff x="7230414" y="6467118"/>
            <a:chExt cx="4489361" cy="0"/>
          </a:xfrm>
        </p:grpSpPr>
        <p:cxnSp>
          <p:nvCxnSpPr>
            <p:cNvPr id="25" name="Google Shape;25;p3"/>
            <p:cNvCxnSpPr/>
            <p:nvPr/>
          </p:nvCxnSpPr>
          <p:spPr>
            <a:xfrm>
              <a:off x="10238666" y="6467118"/>
              <a:ext cx="1481109" cy="0"/>
            </a:xfrm>
            <a:prstGeom prst="straightConnector1">
              <a:avLst/>
            </a:prstGeom>
            <a:noFill/>
            <a:ln w="28575" cap="flat" cmpd="sng">
              <a:solidFill>
                <a:srgbClr val="A423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3"/>
            <p:cNvCxnSpPr/>
            <p:nvPr/>
          </p:nvCxnSpPr>
          <p:spPr>
            <a:xfrm>
              <a:off x="8686122" y="6467118"/>
              <a:ext cx="1539844" cy="0"/>
            </a:xfrm>
            <a:prstGeom prst="straightConnector1">
              <a:avLst/>
            </a:prstGeom>
            <a:noFill/>
            <a:ln w="28575" cap="flat" cmpd="sng">
              <a:solidFill>
                <a:srgbClr val="A7CE3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7230414" y="6467118"/>
              <a:ext cx="1538257" cy="0"/>
            </a:xfrm>
            <a:prstGeom prst="straightConnector1">
              <a:avLst/>
            </a:prstGeom>
            <a:noFill/>
            <a:ln w="28575" cap="flat" cmpd="sng">
              <a:solidFill>
                <a:srgbClr val="F5822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28" name="Google Shape;28;p3"/>
          <p:cNvCxnSpPr/>
          <p:nvPr/>
        </p:nvCxnSpPr>
        <p:spPr>
          <a:xfrm rot="10800000" flipH="1">
            <a:off x="119063" y="895350"/>
            <a:ext cx="4351337" cy="25400"/>
          </a:xfrm>
          <a:prstGeom prst="straightConnector1">
            <a:avLst/>
          </a:prstGeom>
          <a:noFill/>
          <a:ln w="5715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9" name="Google Shape;2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5588" y="138113"/>
            <a:ext cx="827087" cy="61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0263" y="138113"/>
            <a:ext cx="1000125" cy="56038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1128713" y="1090613"/>
            <a:ext cx="9767887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0">
                <a:solidFill>
                  <a:schemeClr val="dk1"/>
                </a:solidFill>
              </a:defRPr>
            </a:lvl1pPr>
            <a:lvl2pPr marL="914400" lvl="1" indent="-406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solidFill>
                  <a:schemeClr val="dk1"/>
                </a:solidFill>
              </a:defRPr>
            </a:lvl2pPr>
            <a:lvl3pPr marL="1371600" lvl="2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>
                <a:solidFill>
                  <a:schemeClr val="dk1"/>
                </a:solidFill>
              </a:defRPr>
            </a:lvl3pPr>
            <a:lvl4pPr marL="1828800" lvl="3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>
                <a:solidFill>
                  <a:schemeClr val="dk1"/>
                </a:solidFill>
              </a:defRPr>
            </a:lvl4pPr>
            <a:lvl5pPr marL="2286000" lvl="4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5"/>
          <p:cNvGrpSpPr/>
          <p:nvPr/>
        </p:nvGrpSpPr>
        <p:grpSpPr>
          <a:xfrm>
            <a:off x="7240588" y="6302375"/>
            <a:ext cx="4489450" cy="0"/>
            <a:chOff x="7230414" y="6467118"/>
            <a:chExt cx="4489361" cy="0"/>
          </a:xfrm>
        </p:grpSpPr>
        <p:cxnSp>
          <p:nvCxnSpPr>
            <p:cNvPr id="44" name="Google Shape;44;p5"/>
            <p:cNvCxnSpPr/>
            <p:nvPr/>
          </p:nvCxnSpPr>
          <p:spPr>
            <a:xfrm>
              <a:off x="10238666" y="6467118"/>
              <a:ext cx="1481109" cy="0"/>
            </a:xfrm>
            <a:prstGeom prst="straightConnector1">
              <a:avLst/>
            </a:prstGeom>
            <a:noFill/>
            <a:ln w="28575" cap="flat" cmpd="sng">
              <a:solidFill>
                <a:srgbClr val="A423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5"/>
            <p:cNvCxnSpPr/>
            <p:nvPr/>
          </p:nvCxnSpPr>
          <p:spPr>
            <a:xfrm>
              <a:off x="8686122" y="6467118"/>
              <a:ext cx="1539844" cy="0"/>
            </a:xfrm>
            <a:prstGeom prst="straightConnector1">
              <a:avLst/>
            </a:prstGeom>
            <a:noFill/>
            <a:ln w="28575" cap="flat" cmpd="sng">
              <a:solidFill>
                <a:srgbClr val="A7CE3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46;p5"/>
            <p:cNvCxnSpPr/>
            <p:nvPr/>
          </p:nvCxnSpPr>
          <p:spPr>
            <a:xfrm>
              <a:off x="7230414" y="6467118"/>
              <a:ext cx="1538257" cy="0"/>
            </a:xfrm>
            <a:prstGeom prst="straightConnector1">
              <a:avLst/>
            </a:prstGeom>
            <a:noFill/>
            <a:ln w="28575" cap="flat" cmpd="sng">
              <a:solidFill>
                <a:srgbClr val="F5822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47" name="Google Shape;47;p5"/>
          <p:cNvCxnSpPr/>
          <p:nvPr/>
        </p:nvCxnSpPr>
        <p:spPr>
          <a:xfrm rot="10800000" flipH="1">
            <a:off x="119063" y="895350"/>
            <a:ext cx="4351337" cy="25400"/>
          </a:xfrm>
          <a:prstGeom prst="straightConnector1">
            <a:avLst/>
          </a:prstGeom>
          <a:noFill/>
          <a:ln w="5715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5588" y="138113"/>
            <a:ext cx="827087" cy="61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0263" y="138113"/>
            <a:ext cx="1000125" cy="560387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838200" y="10509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2"/>
          </p:nvPr>
        </p:nvSpPr>
        <p:spPr>
          <a:xfrm>
            <a:off x="6172200" y="10509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128713" y="1090613"/>
            <a:ext cx="9767887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4064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21kschool.com/in/blog/predictive-analytics-in-education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eur-ws.org/Vol-2415/paper08.pdf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157AF04-F049-E74B-0ABE-A21FA3B20BF9}"/>
              </a:ext>
            </a:extLst>
          </p:cNvPr>
          <p:cNvSpPr txBox="1">
            <a:spLocks/>
          </p:cNvSpPr>
          <p:nvPr/>
        </p:nvSpPr>
        <p:spPr>
          <a:xfrm>
            <a:off x="292100" y="1142728"/>
            <a:ext cx="11899900" cy="104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defRPr/>
            </a:pPr>
            <a:r>
              <a:rPr lang="en-US" altLang="en-US" sz="4400">
                <a:latin typeface="Cambria" panose="02040503050406030204" pitchFamily="18" charset="0"/>
                <a:ea typeface="Cambria" panose="02040503050406030204" pitchFamily="18" charset="0"/>
              </a:rPr>
              <a:t>B V RAJU INSTITUTE OF TECHNOLOGY</a:t>
            </a:r>
            <a:br>
              <a:rPr lang="en-US" altLang="en-US" sz="4400"/>
            </a:br>
            <a:r>
              <a:rPr lang="en-US" altLang="en-US" sz="2000">
                <a:latin typeface="Cambria" panose="02040503050406030204" pitchFamily="18" charset="0"/>
                <a:ea typeface="Cambria" panose="02040503050406030204" pitchFamily="18" charset="0"/>
              </a:rPr>
              <a:t>(UGC Autonomous)</a:t>
            </a:r>
            <a:br>
              <a:rPr lang="en-US" altLang="en-US" sz="200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>
                <a:latin typeface="Cambria" panose="02040503050406030204" pitchFamily="18" charset="0"/>
                <a:ea typeface="Cambria" panose="02040503050406030204" pitchFamily="18" charset="0"/>
              </a:rPr>
              <a:t>Vishnupur, Narsapur, Medak District</a:t>
            </a:r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D61582E-32FB-3FDE-081D-5092C575335E}"/>
              </a:ext>
            </a:extLst>
          </p:cNvPr>
          <p:cNvSpPr txBox="1">
            <a:spLocks/>
          </p:cNvSpPr>
          <p:nvPr/>
        </p:nvSpPr>
        <p:spPr>
          <a:xfrm>
            <a:off x="1450885" y="2197192"/>
            <a:ext cx="9144000" cy="53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4064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Department of Computer Science and Engineering</a:t>
            </a:r>
          </a:p>
          <a:p>
            <a:pPr>
              <a:buFont typeface="Arial" pitchFamily="34" charset="0"/>
              <a:buNone/>
              <a:defRPr/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Major Project – Review-III</a:t>
            </a:r>
          </a:p>
          <a:p>
            <a:pPr>
              <a:buFont typeface="Arial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itchFamily="34" charset="0"/>
              <a:buNone/>
              <a:defRPr/>
            </a:pPr>
            <a:endParaRPr lang="en-US" altLang="en-US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itchFamily="34" charset="0"/>
              <a:buNone/>
              <a:defRPr/>
            </a:pPr>
            <a:endParaRPr lang="en-US" altLang="en-US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06526-AED5-F359-F7B4-0D1177D0740B}"/>
              </a:ext>
            </a:extLst>
          </p:cNvPr>
          <p:cNvSpPr txBox="1"/>
          <p:nvPr/>
        </p:nvSpPr>
        <p:spPr>
          <a:xfrm>
            <a:off x="1031132" y="3409405"/>
            <a:ext cx="102334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000" b="1" dirty="0"/>
              <a:t>The Tri-pillar Platform: A Unified System For Academic, Wellness, And Financial Management</a:t>
            </a:r>
            <a:endParaRPr lang="en-IN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38E8F-B401-355F-4CC8-7D5D8184C057}"/>
              </a:ext>
            </a:extLst>
          </p:cNvPr>
          <p:cNvSpPr txBox="1"/>
          <p:nvPr/>
        </p:nvSpPr>
        <p:spPr>
          <a:xfrm>
            <a:off x="548640" y="4754879"/>
            <a:ext cx="38666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22211A0524: A . Yogendra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22211A0523: A . Harshitha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22211A0559: C 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Sadwik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22211A0521: A . Sailaja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A3982-EA17-3E35-82D1-A4D7368B5F15}"/>
              </a:ext>
            </a:extLst>
          </p:cNvPr>
          <p:cNvSpPr txBox="1"/>
          <p:nvPr/>
        </p:nvSpPr>
        <p:spPr>
          <a:xfrm>
            <a:off x="8151223" y="4807131"/>
            <a:ext cx="3605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9pPr>
          </a:lstStyle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Mrs. G. Ahalya Rani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Outline</a:t>
            </a:r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1"/>
          </p:nvPr>
        </p:nvSpPr>
        <p:spPr>
          <a:xfrm>
            <a:off x="738188" y="1077913"/>
            <a:ext cx="5003800" cy="521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Overview of Reviw-2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Recommendations &amp; Suggestions by panel in  Review-2 if any</a:t>
            </a:r>
            <a:endParaRPr sz="2000" b="1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Proposed Architecture diagram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Proposed List of Modules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Proposed Algorithm /Code  Working Steps.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Results in Proposed </a:t>
            </a:r>
            <a:r>
              <a:rPr lang="en-US" sz="2000" b="1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model/test cases/Screenshots.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 b="1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sz="2000" b="1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b="1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b="1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US" sz="2000" b="1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2000" b="1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" name="Google Shape;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Date: </a:t>
            </a:r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Overview of Review-2</a:t>
            </a:r>
            <a:endParaRPr dirty="0"/>
          </a:p>
        </p:txBody>
      </p:sp>
      <p:sp>
        <p:nvSpPr>
          <p:cNvPr id="79" name="Google Shape;7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2" name="Google Shape;82;p8"/>
          <p:cNvSpPr txBox="1"/>
          <p:nvPr/>
        </p:nvSpPr>
        <p:spPr>
          <a:xfrm>
            <a:off x="287383" y="1214846"/>
            <a:ext cx="11495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>
            <a:spLocks noGrp="1"/>
          </p:cNvSpPr>
          <p:nvPr>
            <p:ph type="title"/>
          </p:nvPr>
        </p:nvSpPr>
        <p:spPr>
          <a:xfrm>
            <a:off x="1128713" y="138112"/>
            <a:ext cx="10061801" cy="68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Recommendations &amp; Suggestions by panel in </a:t>
            </a:r>
            <a:r>
              <a:rPr lang="en-US" baseline="30000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Review-2.</a:t>
            </a:r>
            <a:br>
              <a:rPr lang="en-US" dirty="0">
                <a:latin typeface="Cambria"/>
                <a:ea typeface="Cambria"/>
                <a:cs typeface="Cambria"/>
                <a:sym typeface="Cambria"/>
              </a:rPr>
            </a:b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Date: </a:t>
            </a:r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91" name="Google Shape;91;p9"/>
          <p:cNvGraphicFramePr/>
          <p:nvPr>
            <p:extLst>
              <p:ext uri="{D42A27DB-BD31-4B8C-83A1-F6EECF244321}">
                <p14:modId xmlns:p14="http://schemas.microsoft.com/office/powerpoint/2010/main" val="2259489453"/>
              </p:ext>
            </p:extLst>
          </p:nvPr>
        </p:nvGraphicFramePr>
        <p:xfrm>
          <a:off x="394137" y="1277005"/>
          <a:ext cx="11477300" cy="2333525"/>
        </p:xfrm>
        <a:graphic>
          <a:graphicData uri="http://schemas.openxmlformats.org/drawingml/2006/table">
            <a:tbl>
              <a:tblPr firstRow="1" bandRow="1">
                <a:noFill/>
                <a:tableStyleId>{C9CB9B3E-7458-40BE-A535-80D44974BE2E}</a:tableStyleId>
              </a:tblPr>
              <a:tblGrid>
                <a:gridCol w="83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5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S.NO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Recommendations &amp; Suggestions given by panel 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Changes made by Project Team as per suggestions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 Proposed Architecture diagram</a:t>
            </a:r>
            <a:endParaRPr dirty="0"/>
          </a:p>
        </p:txBody>
      </p:sp>
      <p:sp>
        <p:nvSpPr>
          <p:cNvPr id="97" name="Google Shape;9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Date: </a:t>
            </a:r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Picture 1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46F89F41-CC9A-FE59-EE02-BCF0183B7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15" y="1246913"/>
            <a:ext cx="11226209" cy="48407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8694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Proposed List of Modules</a:t>
            </a:r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Date: </a:t>
            </a:r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675150" y="1238250"/>
            <a:ext cx="1101254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lvl="0" indent="-342900">
              <a:lnSpc>
                <a:spcPct val="150000"/>
              </a:lnSpc>
              <a:buSzPts val="1400"/>
              <a:buFont typeface="+mj-lt"/>
              <a:buAutoNum type="arabicPeriod"/>
            </a:pPr>
            <a:r>
              <a:rPr lang="en-IN" sz="1600">
                <a:latin typeface="Bookman Old Style" panose="02050604050505020204" pitchFamily="18" charset="0"/>
              </a:rPr>
              <a:t>User Authentication &amp; Profile Management</a:t>
            </a:r>
            <a:endParaRPr lang="en-US" sz="1600">
              <a:latin typeface="Bookman Old Style" panose="02050604050505020204" pitchFamily="18" charset="0"/>
            </a:endParaRPr>
          </a:p>
          <a:p>
            <a:pPr marL="482600" lvl="0" indent="-342900">
              <a:lnSpc>
                <a:spcPct val="150000"/>
              </a:lnSpc>
              <a:buSzPts val="1400"/>
              <a:buFont typeface="+mj-lt"/>
              <a:buAutoNum type="arabicPeriod"/>
            </a:pPr>
            <a:r>
              <a:rPr lang="en-IN" sz="1600">
                <a:latin typeface="Bookman Old Style" panose="02050604050505020204" pitchFamily="18" charset="0"/>
              </a:rPr>
              <a:t>Academic Planning &amp; Collaboration</a:t>
            </a:r>
          </a:p>
          <a:p>
            <a:pPr marL="482600" lvl="0" indent="-342900">
              <a:lnSpc>
                <a:spcPct val="150000"/>
              </a:lnSpc>
              <a:buSzPts val="1400"/>
              <a:buFont typeface="+mj-lt"/>
              <a:buAutoNum type="arabicPeriod"/>
            </a:pPr>
            <a:r>
              <a:rPr lang="en-IN" sz="1600">
                <a:latin typeface="Bookman Old Style" panose="02050604050505020204" pitchFamily="18" charset="0"/>
              </a:rPr>
              <a:t>Health &amp; Wellness Tracking</a:t>
            </a:r>
          </a:p>
          <a:p>
            <a:pPr marL="482600" lvl="0" indent="-342900">
              <a:lnSpc>
                <a:spcPct val="150000"/>
              </a:lnSpc>
              <a:buSzPts val="1400"/>
              <a:buFont typeface="+mj-lt"/>
              <a:buAutoNum type="arabicPeriod"/>
            </a:pPr>
            <a:r>
              <a:rPr lang="en-IN" sz="1600">
                <a:latin typeface="Bookman Old Style" panose="02050604050505020204" pitchFamily="18" charset="0"/>
              </a:rPr>
              <a:t>Financial Management</a:t>
            </a:r>
          </a:p>
          <a:p>
            <a:pPr marL="482600" lvl="0" indent="-342900">
              <a:lnSpc>
                <a:spcPct val="150000"/>
              </a:lnSpc>
              <a:buSzPts val="1400"/>
              <a:buFont typeface="+mj-lt"/>
              <a:buAutoNum type="arabicPeriod"/>
            </a:pPr>
            <a:r>
              <a:rPr lang="en-IN" sz="1600">
                <a:latin typeface="Bookman Old Style" panose="02050604050505020204" pitchFamily="18" charset="0"/>
              </a:rPr>
              <a:t>Notification &amp; Reminder System</a:t>
            </a:r>
          </a:p>
          <a:p>
            <a:pPr marL="482600" lvl="0" indent="-342900">
              <a:lnSpc>
                <a:spcPct val="150000"/>
              </a:lnSpc>
              <a:buSzPts val="1400"/>
              <a:buFont typeface="+mj-lt"/>
              <a:buAutoNum type="arabicPeriod"/>
            </a:pPr>
            <a:r>
              <a:rPr lang="en-US" sz="1600">
                <a:latin typeface="Bookman Old Style" panose="02050604050505020204" pitchFamily="18" charset="0"/>
              </a:rPr>
              <a:t>Analytics &amp; Insights</a:t>
            </a:r>
          </a:p>
          <a:p>
            <a:pPr marL="482600" indent="-342900">
              <a:lnSpc>
                <a:spcPct val="150000"/>
              </a:lnSpc>
              <a:buSzPts val="1400"/>
              <a:buFont typeface="+mj-lt"/>
              <a:buAutoNum type="arabicPeriod"/>
            </a:pPr>
            <a:r>
              <a:rPr lang="en-IN" sz="1600">
                <a:latin typeface="Bookman Old Style" panose="02050604050505020204" pitchFamily="18" charset="0"/>
              </a:rPr>
              <a:t>Cloud Integration &amp; Data Security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7;p17">
            <a:extLst>
              <a:ext uri="{FF2B5EF4-FFF2-40B4-BE49-F238E27FC236}">
                <a16:creationId xmlns:a16="http://schemas.microsoft.com/office/drawing/2014/main" id="{BE04DDBD-9C32-0525-9BB3-7C84659116E2}"/>
              </a:ext>
            </a:extLst>
          </p:cNvPr>
          <p:cNvSpPr txBox="1">
            <a:spLocks/>
          </p:cNvSpPr>
          <p:nvPr/>
        </p:nvSpPr>
        <p:spPr>
          <a:xfrm>
            <a:off x="1128713" y="171368"/>
            <a:ext cx="9768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Proposed Algorithm Explanation/Code Execution</a:t>
            </a:r>
            <a:endParaRPr lang="en-US" dirty="0"/>
          </a:p>
        </p:txBody>
      </p:sp>
      <p:sp>
        <p:nvSpPr>
          <p:cNvPr id="5" name="Google Shape;158;p17">
            <a:extLst>
              <a:ext uri="{FF2B5EF4-FFF2-40B4-BE49-F238E27FC236}">
                <a16:creationId xmlns:a16="http://schemas.microsoft.com/office/drawing/2014/main" id="{5FD076A5-4719-B6B3-240D-4A0F79C024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4818" y="1371967"/>
            <a:ext cx="9768000" cy="481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59;p17">
            <a:extLst>
              <a:ext uri="{FF2B5EF4-FFF2-40B4-BE49-F238E27FC236}">
                <a16:creationId xmlns:a16="http://schemas.microsoft.com/office/drawing/2014/main" id="{E1AD0911-A5BB-E76C-87D9-034882889E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buNone/>
              </a:pPr>
              <a:t>7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53907-F1F8-2E7C-A441-4647EA41C5DC}"/>
              </a:ext>
            </a:extLst>
          </p:cNvPr>
          <p:cNvSpPr txBox="1"/>
          <p:nvPr/>
        </p:nvSpPr>
        <p:spPr>
          <a:xfrm>
            <a:off x="285136" y="634984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Date: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E4041B-6520-F90A-64D1-AA2E29F6D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714931"/>
              </p:ext>
            </p:extLst>
          </p:nvPr>
        </p:nvGraphicFramePr>
        <p:xfrm>
          <a:off x="734818" y="980950"/>
          <a:ext cx="10817102" cy="5209017"/>
        </p:xfrm>
        <a:graphic>
          <a:graphicData uri="http://schemas.openxmlformats.org/drawingml/2006/table">
            <a:tbl>
              <a:tblPr firstRow="1" bandRow="1"/>
              <a:tblGrid>
                <a:gridCol w="5326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0549">
                  <a:extLst>
                    <a:ext uri="{9D8B030D-6E8A-4147-A177-3AD203B41FA5}">
                      <a16:colId xmlns:a16="http://schemas.microsoft.com/office/drawing/2014/main" val="2672857442"/>
                    </a:ext>
                  </a:extLst>
                </a:gridCol>
              </a:tblGrid>
              <a:tr h="5209017"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ManageAcademicModule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(profile):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studyPlan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GenerateStudyPlan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profile.academics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peerCollab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SuggestPeerCollaboration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profile.academics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schedule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TrackDeadlinesAndExams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profile.academics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Return {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studyPlan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peerCollab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schedule}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GenerateStudyPlan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(academics):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AI-based module to create personalized study schedules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optimized study plan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SuggestPeerCollaboration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(academics):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Matches students with peers for group projects or study groups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peer collaboration suggestions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TrackDeadlinesAndExams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(academics):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Tracks assignment deadlines and exam schedules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notification-ready data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C9FF3312-9DF8-084B-6D68-14CFE177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7;p17">
            <a:extLst>
              <a:ext uri="{FF2B5EF4-FFF2-40B4-BE49-F238E27FC236}">
                <a16:creationId xmlns:a16="http://schemas.microsoft.com/office/drawing/2014/main" id="{2EB12897-897E-5CA8-05DB-11AC5CD4522D}"/>
              </a:ext>
            </a:extLst>
          </p:cNvPr>
          <p:cNvSpPr txBox="1">
            <a:spLocks/>
          </p:cNvSpPr>
          <p:nvPr/>
        </p:nvSpPr>
        <p:spPr>
          <a:xfrm>
            <a:off x="1128713" y="171368"/>
            <a:ext cx="9768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Proposed Algorithm Explanation/Code Execution</a:t>
            </a:r>
            <a:endParaRPr lang="en-US" dirty="0"/>
          </a:p>
        </p:txBody>
      </p:sp>
      <p:sp>
        <p:nvSpPr>
          <p:cNvPr id="5" name="Google Shape;158;p17">
            <a:extLst>
              <a:ext uri="{FF2B5EF4-FFF2-40B4-BE49-F238E27FC236}">
                <a16:creationId xmlns:a16="http://schemas.microsoft.com/office/drawing/2014/main" id="{9AF7B9EF-C0D1-47E6-F82B-2E6207D0E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4818" y="1371967"/>
            <a:ext cx="9768000" cy="481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59;p17">
            <a:extLst>
              <a:ext uri="{FF2B5EF4-FFF2-40B4-BE49-F238E27FC236}">
                <a16:creationId xmlns:a16="http://schemas.microsoft.com/office/drawing/2014/main" id="{1C85A4A1-837F-67EF-EE44-8A63ED9B7C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buNone/>
              </a:pPr>
              <a:t>8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FDEF8-A7EE-40AA-26BF-E4A03102773C}"/>
              </a:ext>
            </a:extLst>
          </p:cNvPr>
          <p:cNvSpPr txBox="1"/>
          <p:nvPr/>
        </p:nvSpPr>
        <p:spPr>
          <a:xfrm>
            <a:off x="285136" y="634984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Date: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2239B0-E473-F2DA-AAAD-0A8CA0DEC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53321"/>
              </p:ext>
            </p:extLst>
          </p:nvPr>
        </p:nvGraphicFramePr>
        <p:xfrm>
          <a:off x="734818" y="980950"/>
          <a:ext cx="10817102" cy="5209017"/>
        </p:xfrm>
        <a:graphic>
          <a:graphicData uri="http://schemas.openxmlformats.org/drawingml/2006/table">
            <a:tbl>
              <a:tblPr firstRow="1" bandRow="1"/>
              <a:tblGrid>
                <a:gridCol w="5326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0549">
                  <a:extLst>
                    <a:ext uri="{9D8B030D-6E8A-4147-A177-3AD203B41FA5}">
                      <a16:colId xmlns:a16="http://schemas.microsoft.com/office/drawing/2014/main" val="2672857442"/>
                    </a:ext>
                  </a:extLst>
                </a:gridCol>
              </a:tblGrid>
              <a:tr h="5209017"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ManageAcademicModule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(profile):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studyPlan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GenerateStudyPlan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profile.academics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peerCollab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SuggestPeerCollaboration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profile.academics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schedule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TrackDeadlinesAndExams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profile.academics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Return {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studyPlan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peerCollab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schedule}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GenerateStudyPlan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(academics):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AI-based module to create personalized study schedules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optimized study plan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SuggestPeerCollaboration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(academics):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Matches students with peers for group projects or study groups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peer collaboration suggestions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TrackDeadlinesAndExams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(academics):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Tracks assignment deadlines and exam schedules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notification-ready data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71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6FB6609D-B7F6-B728-B9ED-40E925025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7;p17">
            <a:extLst>
              <a:ext uri="{FF2B5EF4-FFF2-40B4-BE49-F238E27FC236}">
                <a16:creationId xmlns:a16="http://schemas.microsoft.com/office/drawing/2014/main" id="{5D9C3327-D141-AEBF-C816-DD6DFFA6E896}"/>
              </a:ext>
            </a:extLst>
          </p:cNvPr>
          <p:cNvSpPr txBox="1">
            <a:spLocks/>
          </p:cNvSpPr>
          <p:nvPr/>
        </p:nvSpPr>
        <p:spPr>
          <a:xfrm>
            <a:off x="1128713" y="171368"/>
            <a:ext cx="9768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Proposed Algorithm Explanation/Code Execution</a:t>
            </a:r>
            <a:endParaRPr lang="en-US" dirty="0"/>
          </a:p>
        </p:txBody>
      </p:sp>
      <p:sp>
        <p:nvSpPr>
          <p:cNvPr id="5" name="Google Shape;158;p17">
            <a:extLst>
              <a:ext uri="{FF2B5EF4-FFF2-40B4-BE49-F238E27FC236}">
                <a16:creationId xmlns:a16="http://schemas.microsoft.com/office/drawing/2014/main" id="{6904C944-5B5B-CC9E-0FB9-26B369E3B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4818" y="1371967"/>
            <a:ext cx="9768000" cy="481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59;p17">
            <a:extLst>
              <a:ext uri="{FF2B5EF4-FFF2-40B4-BE49-F238E27FC236}">
                <a16:creationId xmlns:a16="http://schemas.microsoft.com/office/drawing/2014/main" id="{B62DB50D-69CD-E77E-585F-9AF1C4362D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buNone/>
              </a:pPr>
              <a:t>9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22EA6-FD6B-CB47-0266-D4CFE513391C}"/>
              </a:ext>
            </a:extLst>
          </p:cNvPr>
          <p:cNvSpPr txBox="1"/>
          <p:nvPr/>
        </p:nvSpPr>
        <p:spPr>
          <a:xfrm>
            <a:off x="285136" y="634984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Date: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289405-A025-BA07-DAAC-82A7A56BC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556656"/>
              </p:ext>
            </p:extLst>
          </p:nvPr>
        </p:nvGraphicFramePr>
        <p:xfrm>
          <a:off x="734818" y="980950"/>
          <a:ext cx="10817102" cy="5577840"/>
        </p:xfrm>
        <a:graphic>
          <a:graphicData uri="http://schemas.openxmlformats.org/drawingml/2006/table">
            <a:tbl>
              <a:tblPr firstRow="1" bandRow="1"/>
              <a:tblGrid>
                <a:gridCol w="5326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0549">
                  <a:extLst>
                    <a:ext uri="{9D8B030D-6E8A-4147-A177-3AD203B41FA5}">
                      <a16:colId xmlns:a16="http://schemas.microsoft.com/office/drawing/2014/main" val="2672857442"/>
                    </a:ext>
                  </a:extLst>
                </a:gridCol>
              </a:tblGrid>
              <a:tr h="5209017"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TrackHealthWellness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(profile):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healthLogs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CollectHealthData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profile.health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reminders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GenerateHealthReminders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healthLogs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Return {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healthLogs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reminders}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CollectHealthData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(health):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Collects stress, mood, and fitness data manually or via apps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structured health log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GenerateHealthReminders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healthLogs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Provides reminders for checkups, wellness sessions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list of reminders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ManageFinancialModule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(profile):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expenses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TrackExpenses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profile.finance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alerts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GeneratePaymentAlerts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profile.finance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suggestions =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SuggestFinancialAid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profile.finance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Return {expenses, alerts, suggestions}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TrackExpenses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(finance):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Logs income, expenses, and savings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financial summary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01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2C1A4AFF-AC18-FC2D-DEA2-1321093D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7;p17">
            <a:extLst>
              <a:ext uri="{FF2B5EF4-FFF2-40B4-BE49-F238E27FC236}">
                <a16:creationId xmlns:a16="http://schemas.microsoft.com/office/drawing/2014/main" id="{35E6BAD2-9729-4FC6-7A8F-AEC58A555E1E}"/>
              </a:ext>
            </a:extLst>
          </p:cNvPr>
          <p:cNvSpPr txBox="1">
            <a:spLocks/>
          </p:cNvSpPr>
          <p:nvPr/>
        </p:nvSpPr>
        <p:spPr>
          <a:xfrm>
            <a:off x="1128713" y="171368"/>
            <a:ext cx="9768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Proposed Algorithm Explanation/Code Execution</a:t>
            </a:r>
            <a:endParaRPr lang="en-US" dirty="0"/>
          </a:p>
        </p:txBody>
      </p:sp>
      <p:sp>
        <p:nvSpPr>
          <p:cNvPr id="5" name="Google Shape;158;p17">
            <a:extLst>
              <a:ext uri="{FF2B5EF4-FFF2-40B4-BE49-F238E27FC236}">
                <a16:creationId xmlns:a16="http://schemas.microsoft.com/office/drawing/2014/main" id="{8926F56C-0A1D-6554-52F9-D740F3DC7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4818" y="1371967"/>
            <a:ext cx="9768000" cy="481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59;p17">
            <a:extLst>
              <a:ext uri="{FF2B5EF4-FFF2-40B4-BE49-F238E27FC236}">
                <a16:creationId xmlns:a16="http://schemas.microsoft.com/office/drawing/2014/main" id="{B297C885-A9DB-CF2D-C0F2-32B44AD013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buNone/>
              </a:pPr>
              <a:t>10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B1029-A536-092C-1D21-C6F69CC61277}"/>
              </a:ext>
            </a:extLst>
          </p:cNvPr>
          <p:cNvSpPr txBox="1"/>
          <p:nvPr/>
        </p:nvSpPr>
        <p:spPr>
          <a:xfrm>
            <a:off x="285136" y="634984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Date: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42FB53-C365-BBB4-18F3-5D92D2A9A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328283"/>
              </p:ext>
            </p:extLst>
          </p:nvPr>
        </p:nvGraphicFramePr>
        <p:xfrm>
          <a:off x="734818" y="980950"/>
          <a:ext cx="10817102" cy="5209017"/>
        </p:xfrm>
        <a:graphic>
          <a:graphicData uri="http://schemas.openxmlformats.org/drawingml/2006/table">
            <a:tbl>
              <a:tblPr firstRow="1" bandRow="1"/>
              <a:tblGrid>
                <a:gridCol w="5326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0549">
                  <a:extLst>
                    <a:ext uri="{9D8B030D-6E8A-4147-A177-3AD203B41FA5}">
                      <a16:colId xmlns:a16="http://schemas.microsoft.com/office/drawing/2014/main" val="2672857442"/>
                    </a:ext>
                  </a:extLst>
                </a:gridCol>
              </a:tblGrid>
              <a:tr h="5209017"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GeneratePaymentAlerts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(finance):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Alerts user about due fees, bills, or upcoming payments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alert list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SuggestFinancialAid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(finance):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Recommends scholarships, part-time work, or budgeting tips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suggestions list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GenerateNotifications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academicPlan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healthData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financeData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Combines all reminders and alerts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unified notification list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GenerateAnalytics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academicPlan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healthData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financeData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Uses AI to analyze trends across academic, health, and finance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Creates personalized insights dashboard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Returns analytics report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DeployAndMonitorSystem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(insights):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DeploySystem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MonitorSystemPerformance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DisplayInsights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(insights)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DeploySystem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Deploys the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LifeLink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application to the cloud for multi-device access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084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0D347319-4224-8202-8685-5312C5B43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7;p17">
            <a:extLst>
              <a:ext uri="{FF2B5EF4-FFF2-40B4-BE49-F238E27FC236}">
                <a16:creationId xmlns:a16="http://schemas.microsoft.com/office/drawing/2014/main" id="{F8BFFF7E-27EA-8689-18F2-CC46E9B478D5}"/>
              </a:ext>
            </a:extLst>
          </p:cNvPr>
          <p:cNvSpPr txBox="1">
            <a:spLocks/>
          </p:cNvSpPr>
          <p:nvPr/>
        </p:nvSpPr>
        <p:spPr>
          <a:xfrm>
            <a:off x="1128713" y="171368"/>
            <a:ext cx="9768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Proposed Algorithm Explanation/Code Execution</a:t>
            </a:r>
            <a:endParaRPr lang="en-US" dirty="0"/>
          </a:p>
        </p:txBody>
      </p:sp>
      <p:sp>
        <p:nvSpPr>
          <p:cNvPr id="5" name="Google Shape;158;p17">
            <a:extLst>
              <a:ext uri="{FF2B5EF4-FFF2-40B4-BE49-F238E27FC236}">
                <a16:creationId xmlns:a16="http://schemas.microsoft.com/office/drawing/2014/main" id="{321A677A-25EE-FA16-6EA9-210DD9BC5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4818" y="1371967"/>
            <a:ext cx="9768000" cy="481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54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59;p17">
            <a:extLst>
              <a:ext uri="{FF2B5EF4-FFF2-40B4-BE49-F238E27FC236}">
                <a16:creationId xmlns:a16="http://schemas.microsoft.com/office/drawing/2014/main" id="{BF4E8C01-F1E6-68C4-7A57-50004180E1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buNone/>
              </a:pPr>
              <a:t>11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EA45A-CDD6-44E3-626A-C37D20A5D99A}"/>
              </a:ext>
            </a:extLst>
          </p:cNvPr>
          <p:cNvSpPr txBox="1"/>
          <p:nvPr/>
        </p:nvSpPr>
        <p:spPr>
          <a:xfrm>
            <a:off x="285136" y="634984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Date: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73611B-D65B-7C7F-34CC-22BED7FE3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23736"/>
              </p:ext>
            </p:extLst>
          </p:nvPr>
        </p:nvGraphicFramePr>
        <p:xfrm>
          <a:off x="734818" y="980950"/>
          <a:ext cx="10722364" cy="5209017"/>
        </p:xfrm>
        <a:graphic>
          <a:graphicData uri="http://schemas.openxmlformats.org/drawingml/2006/table">
            <a:tbl>
              <a:tblPr firstRow="1" bandRow="1"/>
              <a:tblGrid>
                <a:gridCol w="10722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09017">
                <a:tc>
                  <a:txBody>
                    <a:bodyPr/>
                    <a:lstStyle/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MonitorSystemPerformance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Tracks uptime, data security, and user engagement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Ensures smooth functioning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DisplayInsights</a:t>
                      </a: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(insights):    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// Displays recommendations and analytics dashboard to the user</a:t>
                      </a: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sz="1800" dirty="0" err="1">
                          <a:latin typeface="Bookman Old Style" panose="0205060405050502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EndFunction</a:t>
                      </a: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400" indent="0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endParaRPr lang="en-US" sz="1800" dirty="0">
                        <a:latin typeface="Bookman Old Style" panose="0205060405050502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370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 Results in Proposed Model/Test Cases/Screen Shots</a:t>
            </a:r>
            <a:endParaRPr dirty="0"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327546" y="1090613"/>
            <a:ext cx="11546005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Maintain Table format, Comparative analysis should be shown as per the metrics used for validating your proposed algorithm. </a:t>
            </a:r>
            <a:endParaRPr dirty="0"/>
          </a:p>
        </p:txBody>
      </p:sp>
      <p:sp>
        <p:nvSpPr>
          <p:cNvPr id="154" name="Google Shape;15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December 28, 2023</a:t>
            </a:r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1128713" y="1090613"/>
            <a:ext cx="9767887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54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72" name="Google Shape;17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Thursday, December 28, 2023</a:t>
            </a:r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98694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 References </a:t>
            </a: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Date: </a:t>
            </a:r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7" name="Google Shape;128;p13"/>
          <p:cNvSpPr txBox="1"/>
          <p:nvPr/>
        </p:nvSpPr>
        <p:spPr>
          <a:xfrm>
            <a:off x="579120" y="999840"/>
            <a:ext cx="10922000" cy="538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300" dirty="0">
                <a:latin typeface="Bookman Old Style" panose="02050604050505020204" pitchFamily="18" charset="0"/>
              </a:rPr>
              <a:t>21K School India. (2025). Predictive Analytics: Enhancing Education Through AI. </a:t>
            </a:r>
            <a:r>
              <a:rPr lang="en-US" sz="1300" i="1" dirty="0">
                <a:latin typeface="Bookman Old Style" panose="02050604050505020204" pitchFamily="18" charset="0"/>
              </a:rPr>
              <a:t>21K School India Blog</a:t>
            </a:r>
            <a:r>
              <a:rPr lang="en-US" sz="1300" dirty="0">
                <a:latin typeface="Bookman Old Style" panose="02050604050505020204" pitchFamily="18" charset="0"/>
              </a:rPr>
              <a:t>. Retrieved from </a:t>
            </a:r>
            <a:r>
              <a:rPr lang="en-US" sz="1300" dirty="0">
                <a:latin typeface="Bookman Old Style" panose="02050604050505020204" pitchFamily="18" charset="0"/>
                <a:hlinkClick r:id="rId3"/>
              </a:rPr>
              <a:t>https://www.21kschool.com/in/blog/predictive-analytics-in-education/</a:t>
            </a:r>
            <a:endParaRPr lang="en-IN" sz="1300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300" dirty="0">
                <a:latin typeface="Bookman Old Style" panose="02050604050505020204" pitchFamily="18" charset="0"/>
              </a:rPr>
              <a:t>Ghule, V. K., </a:t>
            </a:r>
            <a:r>
              <a:rPr lang="en-IN" sz="1300" dirty="0" err="1">
                <a:latin typeface="Bookman Old Style" panose="02050604050505020204" pitchFamily="18" charset="0"/>
              </a:rPr>
              <a:t>Wakodkar</a:t>
            </a:r>
            <a:r>
              <a:rPr lang="en-IN" sz="1300" dirty="0">
                <a:latin typeface="Bookman Old Style" panose="02050604050505020204" pitchFamily="18" charset="0"/>
              </a:rPr>
              <a:t>, M., </a:t>
            </a:r>
            <a:r>
              <a:rPr lang="en-IN" sz="1300" dirty="0" err="1">
                <a:latin typeface="Bookman Old Style" panose="02050604050505020204" pitchFamily="18" charset="0"/>
              </a:rPr>
              <a:t>Ulpe</a:t>
            </a:r>
            <a:r>
              <a:rPr lang="en-IN" sz="1300" dirty="0">
                <a:latin typeface="Bookman Old Style" panose="02050604050505020204" pitchFamily="18" charset="0"/>
              </a:rPr>
              <a:t>, R., </a:t>
            </a:r>
            <a:r>
              <a:rPr lang="en-IN" sz="1300" dirty="0" err="1">
                <a:latin typeface="Bookman Old Style" panose="02050604050505020204" pitchFamily="18" charset="0"/>
              </a:rPr>
              <a:t>Shendurkar</a:t>
            </a:r>
            <a:r>
              <a:rPr lang="en-IN" sz="1300" dirty="0">
                <a:latin typeface="Bookman Old Style" panose="02050604050505020204" pitchFamily="18" charset="0"/>
              </a:rPr>
              <a:t>, S., &amp; </a:t>
            </a:r>
            <a:r>
              <a:rPr lang="en-IN" sz="1300" dirty="0" err="1">
                <a:latin typeface="Bookman Old Style" panose="02050604050505020204" pitchFamily="18" charset="0"/>
              </a:rPr>
              <a:t>Himpalnerkar</a:t>
            </a:r>
            <a:r>
              <a:rPr lang="en-IN" sz="1300" dirty="0">
                <a:latin typeface="Bookman Old Style" panose="02050604050505020204" pitchFamily="18" charset="0"/>
              </a:rPr>
              <a:t>, A. (2024). Intelligent Student Support System: An Integrated Platform for Academic, Financial, and Emotional Well-being of Students. </a:t>
            </a:r>
            <a:r>
              <a:rPr lang="en-IN" sz="1300" i="1" dirty="0">
                <a:latin typeface="Bookman Old Style" panose="02050604050505020204" pitchFamily="18" charset="0"/>
              </a:rPr>
              <a:t>International Research Journal of Engineering and Technology (IRJET)</a:t>
            </a:r>
            <a:r>
              <a:rPr lang="en-IN" sz="1300" dirty="0">
                <a:latin typeface="Bookman Old Style" panose="02050604050505020204" pitchFamily="18" charset="0"/>
              </a:rPr>
              <a:t>, </a:t>
            </a:r>
            <a:r>
              <a:rPr lang="en-IN" sz="1300" i="1" dirty="0">
                <a:latin typeface="Bookman Old Style" panose="02050604050505020204" pitchFamily="18" charset="0"/>
              </a:rPr>
              <a:t>11</a:t>
            </a:r>
            <a:r>
              <a:rPr lang="en-IN" sz="1300" dirty="0">
                <a:latin typeface="Bookman Old Style" panose="02050604050505020204" pitchFamily="18" charset="0"/>
              </a:rPr>
              <a:t>(12), 295–301.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 err="1">
                <a:latin typeface="Bookman Old Style" panose="02050604050505020204" pitchFamily="18" charset="0"/>
              </a:rPr>
              <a:t>Aishwaryalakshmi</a:t>
            </a:r>
            <a:r>
              <a:rPr lang="en-IN" sz="1300" dirty="0">
                <a:latin typeface="Bookman Old Style" panose="02050604050505020204" pitchFamily="18" charset="0"/>
              </a:rPr>
              <a:t>, G., Akash, M., John </a:t>
            </a:r>
            <a:r>
              <a:rPr lang="en-IN" sz="1300" dirty="0" err="1">
                <a:latin typeface="Bookman Old Style" panose="02050604050505020204" pitchFamily="18" charset="0"/>
              </a:rPr>
              <a:t>kingsley</a:t>
            </a:r>
            <a:r>
              <a:rPr lang="en-IN" sz="1300" dirty="0">
                <a:latin typeface="Bookman Old Style" panose="02050604050505020204" pitchFamily="18" charset="0"/>
              </a:rPr>
              <a:t>, R., &amp; Murali Krishna, R. (2024). Integrated Platform For Student Records And Performance Tracking. </a:t>
            </a:r>
            <a:r>
              <a:rPr lang="en-IN" sz="1300" i="1" dirty="0">
                <a:latin typeface="Bookman Old Style" panose="02050604050505020204" pitchFamily="18" charset="0"/>
              </a:rPr>
              <a:t>International Journal of Creative Research Thoughts (IJCRT)</a:t>
            </a:r>
            <a:r>
              <a:rPr lang="en-IN" sz="1300" dirty="0">
                <a:latin typeface="Bookman Old Style" panose="02050604050505020204" pitchFamily="18" charset="0"/>
              </a:rPr>
              <a:t>, </a:t>
            </a:r>
            <a:r>
              <a:rPr lang="en-IN" sz="1300" i="1" dirty="0">
                <a:latin typeface="Bookman Old Style" panose="02050604050505020204" pitchFamily="18" charset="0"/>
              </a:rPr>
              <a:t>12</a:t>
            </a:r>
            <a:r>
              <a:rPr lang="en-IN" sz="1300" dirty="0">
                <a:latin typeface="Bookman Old Style" panose="02050604050505020204" pitchFamily="18" charset="0"/>
              </a:rPr>
              <a:t>(12), g834-g836.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 err="1">
                <a:latin typeface="Bookman Old Style" panose="02050604050505020204" pitchFamily="18" charset="0"/>
              </a:rPr>
              <a:t>Khirade</a:t>
            </a:r>
            <a:r>
              <a:rPr lang="en-US" sz="1300" dirty="0">
                <a:latin typeface="Bookman Old Style" panose="02050604050505020204" pitchFamily="18" charset="0"/>
              </a:rPr>
              <a:t>, R. R., Shetty, B., &amp; Vaidya, M. V. (2024). Hybrid Model to Predict the Performance of Students. </a:t>
            </a:r>
            <a:r>
              <a:rPr lang="en-US" sz="1300" i="1" dirty="0">
                <a:latin typeface="Bookman Old Style" panose="02050604050505020204" pitchFamily="18" charset="0"/>
              </a:rPr>
              <a:t>International Journal of Engineering Development and Research (IJEDR)</a:t>
            </a:r>
            <a:r>
              <a:rPr lang="en-US" sz="1300" dirty="0">
                <a:latin typeface="Bookman Old Style" panose="02050604050505020204" pitchFamily="18" charset="0"/>
              </a:rPr>
              <a:t>, </a:t>
            </a:r>
            <a:r>
              <a:rPr lang="en-US" sz="1300" i="1" dirty="0">
                <a:latin typeface="Bookman Old Style" panose="02050604050505020204" pitchFamily="18" charset="0"/>
              </a:rPr>
              <a:t>12</a:t>
            </a:r>
            <a:r>
              <a:rPr lang="en-US" sz="1300" dirty="0">
                <a:latin typeface="Bookman Old Style" panose="02050604050505020204" pitchFamily="18" charset="0"/>
              </a:rPr>
              <a:t>(1), 1-8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latin typeface="Bookman Old Style" panose="02050604050505020204" pitchFamily="18" charset="0"/>
              </a:rPr>
              <a:t>Jaramillo-</a:t>
            </a:r>
            <a:r>
              <a:rPr lang="en-US" sz="1300" dirty="0" err="1">
                <a:latin typeface="Bookman Old Style" panose="02050604050505020204" pitchFamily="18" charset="0"/>
              </a:rPr>
              <a:t>Alcázar</a:t>
            </a:r>
            <a:r>
              <a:rPr lang="en-US" sz="1300" dirty="0">
                <a:latin typeface="Bookman Old Style" panose="02050604050505020204" pitchFamily="18" charset="0"/>
              </a:rPr>
              <a:t>, C. C., Cueva-Morales, J. J., &amp; Pincay-Mora, D. E. (2024). Comparative Analysis of Machine Learning Models for Predicting Student Success in Online Programming Courses: A Study Based on LMS Data and External Factors. </a:t>
            </a:r>
            <a:r>
              <a:rPr lang="en-US" sz="1300" i="1" dirty="0">
                <a:latin typeface="Bookman Old Style" panose="02050604050505020204" pitchFamily="18" charset="0"/>
              </a:rPr>
              <a:t>Applied Sciences</a:t>
            </a:r>
            <a:r>
              <a:rPr lang="en-US" sz="1300" dirty="0">
                <a:latin typeface="Bookman Old Style" panose="02050604050505020204" pitchFamily="18" charset="0"/>
              </a:rPr>
              <a:t>, </a:t>
            </a:r>
            <a:r>
              <a:rPr lang="en-US" sz="1300" i="1" dirty="0">
                <a:latin typeface="Bookman Old Style" panose="02050604050505020204" pitchFamily="18" charset="0"/>
              </a:rPr>
              <a:t>14</a:t>
            </a:r>
            <a:r>
              <a:rPr lang="en-US" sz="1300" dirty="0">
                <a:latin typeface="Bookman Old Style" panose="02050604050505020204" pitchFamily="18" charset="0"/>
              </a:rPr>
              <a:t>(20), 3272.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>
                <a:latin typeface="Bookman Old Style" panose="02050604050505020204" pitchFamily="18" charset="0"/>
              </a:rPr>
              <a:t>Ganesh, S. N. V., Bhuvaneswari, K., Kavipriya, K., Mahalakshmi, S., &amp; Prasanth, G. (2022). Intelligent Recommendation System for Student Career Planning Using Machine Learning. </a:t>
            </a:r>
            <a:r>
              <a:rPr lang="en-IN" sz="1300" i="1" dirty="0">
                <a:latin typeface="Bookman Old Style" panose="02050604050505020204" pitchFamily="18" charset="0"/>
              </a:rPr>
              <a:t>International Journal of Creative Research Thoughts (IJCRT)</a:t>
            </a:r>
            <a:r>
              <a:rPr lang="en-IN" sz="1300" dirty="0">
                <a:latin typeface="Bookman Old Style" panose="02050604050505020204" pitchFamily="18" charset="0"/>
              </a:rPr>
              <a:t>, </a:t>
            </a:r>
            <a:r>
              <a:rPr lang="en-IN" sz="1300" i="1" dirty="0">
                <a:latin typeface="Bookman Old Style" panose="02050604050505020204" pitchFamily="18" charset="0"/>
              </a:rPr>
              <a:t>10</a:t>
            </a:r>
            <a:r>
              <a:rPr lang="en-IN" sz="1300" dirty="0">
                <a:latin typeface="Bookman Old Style" panose="02050604050505020204" pitchFamily="18" charset="0"/>
              </a:rPr>
              <a:t>(4), 164–168.</a:t>
            </a:r>
            <a:endParaRPr lang="en-US" sz="1300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latin typeface="Bookman Old Style" panose="02050604050505020204" pitchFamily="18" charset="0"/>
              </a:rPr>
              <a:t>Silva, A. D., de Carvalho, P. P., Costa, D. C. F., dos Santos, S. P., &amp; Ribeiro, J. M. F. (2019). Predictors and Early Warning Systems in Higher Education — A Systematic Literature Review. </a:t>
            </a:r>
            <a:r>
              <a:rPr lang="en-US" sz="1300" i="1" dirty="0">
                <a:latin typeface="Bookman Old Style" panose="02050604050505020204" pitchFamily="18" charset="0"/>
              </a:rPr>
              <a:t>CEUR Workshop Proceedings</a:t>
            </a:r>
            <a:r>
              <a:rPr lang="en-US" sz="1300" dirty="0">
                <a:latin typeface="Bookman Old Style" panose="02050604050505020204" pitchFamily="18" charset="0"/>
              </a:rPr>
              <a:t>, </a:t>
            </a:r>
            <a:r>
              <a:rPr lang="en-US" sz="1300" i="1" dirty="0">
                <a:latin typeface="Bookman Old Style" panose="02050604050505020204" pitchFamily="18" charset="0"/>
              </a:rPr>
              <a:t>2415</a:t>
            </a:r>
            <a:r>
              <a:rPr lang="en-US" sz="1300" dirty="0">
                <a:latin typeface="Bookman Old Style" panose="02050604050505020204" pitchFamily="18" charset="0"/>
              </a:rPr>
              <a:t>. Retrieved from </a:t>
            </a:r>
            <a:r>
              <a:rPr lang="en-US" sz="1300" dirty="0">
                <a:latin typeface="Bookman Old Style" panose="02050604050505020204" pitchFamily="18" charset="0"/>
                <a:hlinkClick r:id="rId4"/>
              </a:rPr>
              <a:t>http://ceur-ws.org/Vol-2415/paper08.pdf</a:t>
            </a:r>
            <a:endParaRPr lang="en-US" sz="1300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300" dirty="0" err="1">
                <a:latin typeface="Bookman Old Style" panose="02050604050505020204" pitchFamily="18" charset="0"/>
              </a:rPr>
              <a:t>Turkanović</a:t>
            </a:r>
            <a:r>
              <a:rPr lang="en-IN" sz="1300" dirty="0">
                <a:latin typeface="Bookman Old Style" panose="02050604050505020204" pitchFamily="18" charset="0"/>
              </a:rPr>
              <a:t>, M., </a:t>
            </a:r>
            <a:r>
              <a:rPr lang="en-IN" sz="1300" dirty="0" err="1">
                <a:latin typeface="Bookman Old Style" panose="02050604050505020204" pitchFamily="18" charset="0"/>
              </a:rPr>
              <a:t>Hölbl</a:t>
            </a:r>
            <a:r>
              <a:rPr lang="en-IN" sz="1300" dirty="0">
                <a:latin typeface="Bookman Old Style" panose="02050604050505020204" pitchFamily="18" charset="0"/>
              </a:rPr>
              <a:t>, M., </a:t>
            </a:r>
            <a:r>
              <a:rPr lang="en-IN" sz="1300" dirty="0" err="1">
                <a:latin typeface="Bookman Old Style" panose="02050604050505020204" pitchFamily="18" charset="0"/>
              </a:rPr>
              <a:t>Košić</a:t>
            </a:r>
            <a:r>
              <a:rPr lang="en-IN" sz="1300" dirty="0">
                <a:latin typeface="Bookman Old Style" panose="02050604050505020204" pitchFamily="18" charset="0"/>
              </a:rPr>
              <a:t>, K., </a:t>
            </a:r>
            <a:r>
              <a:rPr lang="en-IN" sz="1300" dirty="0" err="1">
                <a:latin typeface="Bookman Old Style" panose="02050604050505020204" pitchFamily="18" charset="0"/>
              </a:rPr>
              <a:t>Heričko</a:t>
            </a:r>
            <a:r>
              <a:rPr lang="en-IN" sz="1300" dirty="0">
                <a:latin typeface="Bookman Old Style" panose="02050604050505020204" pitchFamily="18" charset="0"/>
              </a:rPr>
              <a:t>, M., &amp; </a:t>
            </a:r>
            <a:r>
              <a:rPr lang="en-IN" sz="1300" dirty="0" err="1">
                <a:latin typeface="Bookman Old Style" panose="02050604050505020204" pitchFamily="18" charset="0"/>
              </a:rPr>
              <a:t>Kamišalić</a:t>
            </a:r>
            <a:r>
              <a:rPr lang="en-IN" sz="1300" dirty="0">
                <a:latin typeface="Bookman Old Style" panose="02050604050505020204" pitchFamily="18" charset="0"/>
              </a:rPr>
              <a:t>, A. (2018). </a:t>
            </a:r>
            <a:r>
              <a:rPr lang="en-IN" sz="1300" dirty="0" err="1">
                <a:latin typeface="Bookman Old Style" panose="02050604050505020204" pitchFamily="18" charset="0"/>
              </a:rPr>
              <a:t>EduCTX</a:t>
            </a:r>
            <a:r>
              <a:rPr lang="en-IN" sz="1300" dirty="0">
                <a:latin typeface="Bookman Old Style" panose="02050604050505020204" pitchFamily="18" charset="0"/>
              </a:rPr>
              <a:t>: A Blockchain-Based Higher Education Credit Platform. </a:t>
            </a:r>
            <a:r>
              <a:rPr lang="en-IN" sz="1300" i="1" dirty="0">
                <a:latin typeface="Bookman Old Style" panose="02050604050505020204" pitchFamily="18" charset="0"/>
              </a:rPr>
              <a:t>IEEE Access</a:t>
            </a:r>
            <a:r>
              <a:rPr lang="en-IN" sz="1300" dirty="0">
                <a:latin typeface="Bookman Old Style" panose="02050604050505020204" pitchFamily="18" charset="0"/>
              </a:rPr>
              <a:t>, </a:t>
            </a:r>
            <a:r>
              <a:rPr lang="en-IN" sz="1300" i="1" dirty="0">
                <a:latin typeface="Bookman Old Style" panose="02050604050505020204" pitchFamily="18" charset="0"/>
              </a:rPr>
              <a:t>6</a:t>
            </a:r>
            <a:r>
              <a:rPr lang="en-IN" sz="1300" dirty="0">
                <a:latin typeface="Bookman Old Style" panose="02050604050505020204" pitchFamily="18" charset="0"/>
              </a:rPr>
              <a:t>, 5127–5136.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>
                <a:latin typeface="Bookman Old Style" panose="02050604050505020204" pitchFamily="18" charset="0"/>
              </a:rPr>
              <a:t>Good Shepherd Services, Program Evaluation and Planning Department. (2017). </a:t>
            </a:r>
            <a:r>
              <a:rPr lang="en-IN" sz="1300" i="1" dirty="0" err="1">
                <a:latin typeface="Bookman Old Style" panose="02050604050505020204" pitchFamily="18" charset="0"/>
              </a:rPr>
              <a:t>LifeLink</a:t>
            </a:r>
            <a:r>
              <a:rPr lang="en-IN" sz="1300" i="1" dirty="0">
                <a:latin typeface="Bookman Old Style" panose="02050604050505020204" pitchFamily="18" charset="0"/>
              </a:rPr>
              <a:t>: Student-Driven College Access and Success</a:t>
            </a:r>
            <a:r>
              <a:rPr lang="en-IN" sz="1300" dirty="0">
                <a:latin typeface="Bookman Old Style" panose="020506040505050202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300" dirty="0">
                <a:latin typeface="Bookman Old Style" panose="02050604050505020204" pitchFamily="18" charset="0"/>
              </a:rPr>
              <a:t>Papadatou-</a:t>
            </a:r>
            <a:r>
              <a:rPr lang="en-IN" sz="1300" dirty="0" err="1">
                <a:latin typeface="Bookman Old Style" panose="02050604050505020204" pitchFamily="18" charset="0"/>
              </a:rPr>
              <a:t>Pastou</a:t>
            </a:r>
            <a:r>
              <a:rPr lang="en-IN" sz="1300" dirty="0">
                <a:latin typeface="Bookman Old Style" panose="02050604050505020204" pitchFamily="18" charset="0"/>
              </a:rPr>
              <a:t>, M., </a:t>
            </a:r>
            <a:r>
              <a:rPr lang="en-IN" sz="1300" dirty="0" err="1">
                <a:latin typeface="Bookman Old Style" panose="02050604050505020204" pitchFamily="18" charset="0"/>
              </a:rPr>
              <a:t>Goozee</a:t>
            </a:r>
            <a:r>
              <a:rPr lang="en-IN" sz="1300" dirty="0">
                <a:latin typeface="Bookman Old Style" panose="02050604050505020204" pitchFamily="18" charset="0"/>
              </a:rPr>
              <a:t>, R., Payne, E., Barrable, A., &amp; </a:t>
            </a:r>
            <a:r>
              <a:rPr lang="en-IN" sz="1300" dirty="0" err="1">
                <a:latin typeface="Bookman Old Style" panose="02050604050505020204" pitchFamily="18" charset="0"/>
              </a:rPr>
              <a:t>Tzotzolis</a:t>
            </a:r>
            <a:r>
              <a:rPr lang="en-IN" sz="1300" dirty="0">
                <a:latin typeface="Bookman Old Style" panose="02050604050505020204" pitchFamily="18" charset="0"/>
              </a:rPr>
              <a:t>, P. (2017). A review of web-based support systems for students in higher education. </a:t>
            </a:r>
            <a:r>
              <a:rPr lang="en-IN" sz="1300" i="1" dirty="0">
                <a:latin typeface="Bookman Old Style" panose="02050604050505020204" pitchFamily="18" charset="0"/>
              </a:rPr>
              <a:t>International Journal of Mental Health Systems</a:t>
            </a:r>
            <a:r>
              <a:rPr lang="en-IN" sz="1300" dirty="0">
                <a:latin typeface="Bookman Old Style" panose="02050604050505020204" pitchFamily="18" charset="0"/>
              </a:rPr>
              <a:t>, </a:t>
            </a:r>
            <a:r>
              <a:rPr lang="en-IN" sz="1300" i="1" dirty="0">
                <a:latin typeface="Bookman Old Style" panose="02050604050505020204" pitchFamily="18" charset="0"/>
              </a:rPr>
              <a:t>11</a:t>
            </a:r>
            <a:r>
              <a:rPr lang="en-IN" sz="1300" dirty="0">
                <a:latin typeface="Bookman Old Style" panose="02050604050505020204" pitchFamily="18" charset="0"/>
              </a:rPr>
              <a:t>(59).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latin typeface="Bookman Old Style" panose="02050604050505020204" pitchFamily="18" charset="0"/>
              </a:rPr>
              <a:t>T. B. R. J. D. L. N. (2017). A Comparative Study to Predict Student's Performance Using Educational Data Mining Techniques. </a:t>
            </a:r>
            <a:r>
              <a:rPr lang="en-US" sz="1300" i="1" dirty="0">
                <a:latin typeface="Bookman Old Style" panose="02050604050505020204" pitchFamily="18" charset="0"/>
              </a:rPr>
              <a:t>International Journal of Computer Applications</a:t>
            </a:r>
            <a:r>
              <a:rPr lang="en-US" sz="1300" dirty="0">
                <a:latin typeface="Bookman Old Style" panose="02050604050505020204" pitchFamily="18" charset="0"/>
              </a:rPr>
              <a:t>, </a:t>
            </a:r>
            <a:r>
              <a:rPr lang="en-US" sz="1300" i="1" dirty="0">
                <a:latin typeface="Bookman Old Style" panose="02050604050505020204" pitchFamily="18" charset="0"/>
              </a:rPr>
              <a:t>169</a:t>
            </a:r>
            <a:r>
              <a:rPr lang="en-US" sz="1300" dirty="0">
                <a:latin typeface="Bookman Old Style" panose="02050604050505020204" pitchFamily="18" charset="0"/>
              </a:rPr>
              <a:t>(5), 15-20.</a:t>
            </a:r>
            <a:endParaRPr lang="en-IN" sz="13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BVRIT CSE</a:t>
            </a:r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title"/>
          </p:nvPr>
        </p:nvSpPr>
        <p:spPr>
          <a:xfrm>
            <a:off x="998085" y="2855188"/>
            <a:ext cx="10810738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………..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1362</Words>
  <Application>Microsoft Office PowerPoint</Application>
  <PresentationFormat>Widescreen</PresentationFormat>
  <Paragraphs>214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Bookman Old Style</vt:lpstr>
      <vt:lpstr>Calibri</vt:lpstr>
      <vt:lpstr>Cambria</vt:lpstr>
      <vt:lpstr>Times New Roman</vt:lpstr>
      <vt:lpstr>Office Theme</vt:lpstr>
      <vt:lpstr>PowerPoint Presentation</vt:lpstr>
      <vt:lpstr>Outline</vt:lpstr>
      <vt:lpstr>Overview of Review-2</vt:lpstr>
      <vt:lpstr>Recommendations &amp; Suggestions by panel in  Review-2. </vt:lpstr>
      <vt:lpstr> Proposed Architecture diagram</vt:lpstr>
      <vt:lpstr>Proposed List of 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Results in Proposed Model/Test Cases/Screen Shots</vt:lpstr>
      <vt:lpstr>Conclusion</vt:lpstr>
      <vt:lpstr> References </vt:lpstr>
      <vt:lpstr>Thank You ………..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V RAJU INSTITUTE OF TECHNOLOGY (UGC Autonomous) Vishnupur, Narsapur, Medak District</dc:title>
  <dc:creator>Pradeepkumar</dc:creator>
  <cp:lastModifiedBy>Harshitha Anthannagari</cp:lastModifiedBy>
  <cp:revision>10</cp:revision>
  <dcterms:modified xsi:type="dcterms:W3CDTF">2026-01-25T14:51:51Z</dcterms:modified>
</cp:coreProperties>
</file>